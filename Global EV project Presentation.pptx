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7" r:id="rId2"/>
    <p:sldId id="259" r:id="rId3"/>
    <p:sldId id="278" r:id="rId4"/>
    <p:sldId id="260" r:id="rId5"/>
    <p:sldId id="261" r:id="rId6"/>
    <p:sldId id="284" r:id="rId7"/>
    <p:sldId id="281" r:id="rId8"/>
    <p:sldId id="283" r:id="rId9"/>
    <p:sldId id="282" r:id="rId10"/>
    <p:sldId id="277" r:id="rId11"/>
    <p:sldId id="285" r:id="rId12"/>
    <p:sldId id="266" r:id="rId13"/>
    <p:sldId id="273" r:id="rId14"/>
  </p:sldIdLst>
  <p:sldSz cx="12188825" cy="6858000"/>
  <p:notesSz cx="12192000" cy="10693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735" autoAdjust="0"/>
    <p:restoredTop sz="95033" autoAdjust="0"/>
  </p:normalViewPr>
  <p:slideViewPr>
    <p:cSldViewPr>
      <p:cViewPr varScale="1">
        <p:scale>
          <a:sx n="82" d="100"/>
          <a:sy n="82" d="100"/>
        </p:scale>
        <p:origin x="413"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5365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536575"/>
          </a:xfrm>
          <a:prstGeom prst="rect">
            <a:avLst/>
          </a:prstGeom>
        </p:spPr>
        <p:txBody>
          <a:bodyPr vert="horz" lIns="91440" tIns="45720" rIns="91440" bIns="45720" rtlCol="0"/>
          <a:lstStyle>
            <a:lvl1pPr algn="r">
              <a:defRPr sz="1200"/>
            </a:lvl1pPr>
          </a:lstStyle>
          <a:p>
            <a:fld id="{610C227A-E090-4590-942B-3D9199A644AC}" type="datetimeFigureOut">
              <a:rPr lang="en-IN" smtClean="0"/>
              <a:t>03-01-2026</a:t>
            </a:fld>
            <a:endParaRPr lang="en-IN"/>
          </a:p>
        </p:txBody>
      </p:sp>
      <p:sp>
        <p:nvSpPr>
          <p:cNvPr id="4" name="Slide Image Placeholder 3"/>
          <p:cNvSpPr>
            <a:spLocks noGrp="1" noRot="1" noChangeAspect="1"/>
          </p:cNvSpPr>
          <p:nvPr>
            <p:ph type="sldImg" idx="2"/>
          </p:nvPr>
        </p:nvSpPr>
        <p:spPr>
          <a:xfrm>
            <a:off x="4038600" y="1336675"/>
            <a:ext cx="4114800" cy="3608388"/>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5146675"/>
            <a:ext cx="9753600"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156825"/>
            <a:ext cx="5283200" cy="5365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10156825"/>
            <a:ext cx="5283200" cy="536575"/>
          </a:xfrm>
          <a:prstGeom prst="rect">
            <a:avLst/>
          </a:prstGeom>
        </p:spPr>
        <p:txBody>
          <a:bodyPr vert="horz" lIns="91440" tIns="45720" rIns="91440" bIns="45720" rtlCol="0" anchor="b"/>
          <a:lstStyle>
            <a:lvl1pPr algn="r">
              <a:defRPr sz="1200"/>
            </a:lvl1pPr>
          </a:lstStyle>
          <a:p>
            <a:fld id="{E39D1787-EDA1-410E-8CED-1402E2CD78C9}" type="slidenum">
              <a:rPr lang="en-IN" smtClean="0"/>
              <a:t>‹#›</a:t>
            </a:fld>
            <a:endParaRPr lang="en-IN"/>
          </a:p>
        </p:txBody>
      </p:sp>
    </p:spTree>
    <p:extLst>
      <p:ext uri="{BB962C8B-B14F-4D97-AF65-F5344CB8AC3E}">
        <p14:creationId xmlns:p14="http://schemas.microsoft.com/office/powerpoint/2010/main" val="1932623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6741" y="3314955"/>
            <a:ext cx="6423025" cy="676980"/>
          </a:xfrm>
          <a:prstGeom prst="rect">
            <a:avLst/>
          </a:prstGeom>
        </p:spPr>
        <p:txBody>
          <a:bodyPr wrap="square" lIns="0" tIns="0" rIns="0" bIns="0">
            <a:spAutoFit/>
          </a:bodyPr>
          <a:lstStyle>
            <a:lvl1pPr>
              <a:defRPr sz="4399" b="1" i="0" u="sng">
                <a:solidFill>
                  <a:srgbClr val="FF0000"/>
                </a:solidFill>
                <a:latin typeface="Times New Roman"/>
                <a:cs typeface="Times New Roman"/>
              </a:defRPr>
            </a:lvl1pPr>
          </a:lstStyle>
          <a:p>
            <a:endParaRPr/>
          </a:p>
        </p:txBody>
      </p:sp>
      <p:sp>
        <p:nvSpPr>
          <p:cNvPr id="3" name="Holder 3"/>
          <p:cNvSpPr>
            <a:spLocks noGrp="1"/>
          </p:cNvSpPr>
          <p:nvPr>
            <p:ph type="subTitle" idx="4"/>
          </p:nvPr>
        </p:nvSpPr>
        <p:spPr>
          <a:xfrm>
            <a:off x="1133476" y="5988313"/>
            <a:ext cx="528955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09194" y="192736"/>
            <a:ext cx="6669354" cy="676980"/>
          </a:xfrm>
        </p:spPr>
        <p:txBody>
          <a:bodyPr lIns="0" tIns="0" rIns="0" bIns="0"/>
          <a:lstStyle>
            <a:lvl1pPr>
              <a:defRPr sz="4399" b="1" i="0" u="sng">
                <a:solidFill>
                  <a:srgbClr val="FF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209194" y="192736"/>
            <a:ext cx="6669354" cy="676980"/>
          </a:xfrm>
        </p:spPr>
        <p:txBody>
          <a:bodyPr lIns="0" tIns="0" rIns="0" bIns="0"/>
          <a:lstStyle>
            <a:lvl1pPr>
              <a:defRPr sz="4399" b="1" i="0" u="sng">
                <a:solidFill>
                  <a:srgbClr val="FF0000"/>
                </a:solidFill>
                <a:latin typeface="Times New Roman"/>
                <a:cs typeface="Times New Roman"/>
              </a:defRPr>
            </a:lvl1pPr>
          </a:lstStyle>
          <a:p>
            <a:endParaRPr/>
          </a:p>
        </p:txBody>
      </p:sp>
      <p:sp>
        <p:nvSpPr>
          <p:cNvPr id="3" name="Holder 3"/>
          <p:cNvSpPr>
            <a:spLocks noGrp="1"/>
          </p:cNvSpPr>
          <p:nvPr>
            <p:ph sz="half" idx="2"/>
          </p:nvPr>
        </p:nvSpPr>
        <p:spPr>
          <a:xfrm>
            <a:off x="377827" y="2459491"/>
            <a:ext cx="3287077"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1599" y="2459491"/>
            <a:ext cx="3287077"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209194" y="192736"/>
            <a:ext cx="6669354" cy="676980"/>
          </a:xfrm>
        </p:spPr>
        <p:txBody>
          <a:bodyPr lIns="0" tIns="0" rIns="0" bIns="0"/>
          <a:lstStyle>
            <a:lvl1pPr>
              <a:defRPr sz="4399" b="1" i="0" u="sng">
                <a:solidFill>
                  <a:srgbClr val="FF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967170" y="6286076"/>
            <a:ext cx="2945471" cy="444835"/>
          </a:xfrm>
          <a:prstGeom prst="rect">
            <a:avLst/>
          </a:prstGeom>
        </p:spPr>
      </p:pic>
      <p:sp>
        <p:nvSpPr>
          <p:cNvPr id="2" name="Holder 2"/>
          <p:cNvSpPr>
            <a:spLocks noGrp="1"/>
          </p:cNvSpPr>
          <p:nvPr>
            <p:ph type="title"/>
          </p:nvPr>
        </p:nvSpPr>
        <p:spPr>
          <a:xfrm>
            <a:off x="209194" y="192735"/>
            <a:ext cx="6669354" cy="677108"/>
          </a:xfrm>
          <a:prstGeom prst="rect">
            <a:avLst/>
          </a:prstGeom>
        </p:spPr>
        <p:txBody>
          <a:bodyPr wrap="square" lIns="0" tIns="0" rIns="0" bIns="0">
            <a:spAutoFit/>
          </a:bodyPr>
          <a:lstStyle>
            <a:lvl1pPr>
              <a:defRPr sz="4400" b="1" i="0" u="sng">
                <a:solidFill>
                  <a:srgbClr val="FF0000"/>
                </a:solidFill>
                <a:latin typeface="Times New Roman"/>
                <a:cs typeface="Times New Roman"/>
              </a:defRPr>
            </a:lvl1pPr>
          </a:lstStyle>
          <a:p>
            <a:endParaRPr/>
          </a:p>
        </p:txBody>
      </p:sp>
      <p:sp>
        <p:nvSpPr>
          <p:cNvPr id="3" name="Holder 3"/>
          <p:cNvSpPr>
            <a:spLocks noGrp="1"/>
          </p:cNvSpPr>
          <p:nvPr>
            <p:ph type="body" idx="1"/>
          </p:nvPr>
        </p:nvSpPr>
        <p:spPr>
          <a:xfrm>
            <a:off x="377825" y="2459491"/>
            <a:ext cx="680085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9210" y="9944871"/>
            <a:ext cx="241808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827" y="9944871"/>
            <a:ext cx="1737995"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1/3/2026</a:t>
            </a:fld>
            <a:endParaRPr lang="en-US"/>
          </a:p>
        </p:txBody>
      </p:sp>
      <p:sp>
        <p:nvSpPr>
          <p:cNvPr id="6" name="Holder 6"/>
          <p:cNvSpPr>
            <a:spLocks noGrp="1"/>
          </p:cNvSpPr>
          <p:nvPr>
            <p:ph type="sldNum" sz="quarter" idx="7"/>
          </p:nvPr>
        </p:nvSpPr>
        <p:spPr>
          <a:xfrm>
            <a:off x="5440683" y="9944871"/>
            <a:ext cx="1737995"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122">
        <a:defRPr>
          <a:latin typeface="+mn-lt"/>
          <a:ea typeface="+mn-ea"/>
          <a:cs typeface="+mn-cs"/>
        </a:defRPr>
      </a:lvl2pPr>
      <a:lvl3pPr marL="914244">
        <a:defRPr>
          <a:latin typeface="+mn-lt"/>
          <a:ea typeface="+mn-ea"/>
          <a:cs typeface="+mn-cs"/>
        </a:defRPr>
      </a:lvl3pPr>
      <a:lvl4pPr marL="1371367">
        <a:defRPr>
          <a:latin typeface="+mn-lt"/>
          <a:ea typeface="+mn-ea"/>
          <a:cs typeface="+mn-cs"/>
        </a:defRPr>
      </a:lvl4pPr>
      <a:lvl5pPr marL="1828489">
        <a:defRPr>
          <a:latin typeface="+mn-lt"/>
          <a:ea typeface="+mn-ea"/>
          <a:cs typeface="+mn-cs"/>
        </a:defRPr>
      </a:lvl5pPr>
      <a:lvl6pPr marL="2285611">
        <a:defRPr>
          <a:latin typeface="+mn-lt"/>
          <a:ea typeface="+mn-ea"/>
          <a:cs typeface="+mn-cs"/>
        </a:defRPr>
      </a:lvl6pPr>
      <a:lvl7pPr marL="2742733">
        <a:defRPr>
          <a:latin typeface="+mn-lt"/>
          <a:ea typeface="+mn-ea"/>
          <a:cs typeface="+mn-cs"/>
        </a:defRPr>
      </a:lvl7pPr>
      <a:lvl8pPr marL="3199856">
        <a:defRPr>
          <a:latin typeface="+mn-lt"/>
          <a:ea typeface="+mn-ea"/>
          <a:cs typeface="+mn-cs"/>
        </a:defRPr>
      </a:lvl8pPr>
      <a:lvl9pPr marL="3656978">
        <a:defRPr>
          <a:latin typeface="+mn-lt"/>
          <a:ea typeface="+mn-ea"/>
          <a:cs typeface="+mn-cs"/>
        </a:defRPr>
      </a:lvl9pPr>
    </p:bodyStyle>
    <p:otherStyle>
      <a:lvl1pPr marL="0">
        <a:defRPr>
          <a:latin typeface="+mn-lt"/>
          <a:ea typeface="+mn-ea"/>
          <a:cs typeface="+mn-cs"/>
        </a:defRPr>
      </a:lvl1pPr>
      <a:lvl2pPr marL="457122">
        <a:defRPr>
          <a:latin typeface="+mn-lt"/>
          <a:ea typeface="+mn-ea"/>
          <a:cs typeface="+mn-cs"/>
        </a:defRPr>
      </a:lvl2pPr>
      <a:lvl3pPr marL="914244">
        <a:defRPr>
          <a:latin typeface="+mn-lt"/>
          <a:ea typeface="+mn-ea"/>
          <a:cs typeface="+mn-cs"/>
        </a:defRPr>
      </a:lvl3pPr>
      <a:lvl4pPr marL="1371367">
        <a:defRPr>
          <a:latin typeface="+mn-lt"/>
          <a:ea typeface="+mn-ea"/>
          <a:cs typeface="+mn-cs"/>
        </a:defRPr>
      </a:lvl4pPr>
      <a:lvl5pPr marL="1828489">
        <a:defRPr>
          <a:latin typeface="+mn-lt"/>
          <a:ea typeface="+mn-ea"/>
          <a:cs typeface="+mn-cs"/>
        </a:defRPr>
      </a:lvl5pPr>
      <a:lvl6pPr marL="2285611">
        <a:defRPr>
          <a:latin typeface="+mn-lt"/>
          <a:ea typeface="+mn-ea"/>
          <a:cs typeface="+mn-cs"/>
        </a:defRPr>
      </a:lvl6pPr>
      <a:lvl7pPr marL="2742733">
        <a:defRPr>
          <a:latin typeface="+mn-lt"/>
          <a:ea typeface="+mn-ea"/>
          <a:cs typeface="+mn-cs"/>
        </a:defRPr>
      </a:lvl7pPr>
      <a:lvl8pPr marL="3199856">
        <a:defRPr>
          <a:latin typeface="+mn-lt"/>
          <a:ea typeface="+mn-ea"/>
          <a:cs typeface="+mn-cs"/>
        </a:defRPr>
      </a:lvl8pPr>
      <a:lvl9pPr marL="3656978">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175" y="0"/>
            <a:ext cx="12192000" cy="6858000"/>
          </a:xfrm>
          <a:prstGeom prst="rect">
            <a:avLst/>
          </a:prstGeom>
        </p:spPr>
      </p:pic>
      <p:sp>
        <p:nvSpPr>
          <p:cNvPr id="4" name="object 4"/>
          <p:cNvSpPr txBox="1"/>
          <p:nvPr/>
        </p:nvSpPr>
        <p:spPr>
          <a:xfrm>
            <a:off x="8755380" y="5181600"/>
            <a:ext cx="3433445" cy="1281120"/>
          </a:xfrm>
          <a:prstGeom prst="rect">
            <a:avLst/>
          </a:prstGeom>
        </p:spPr>
        <p:txBody>
          <a:bodyPr vert="horz" wrap="square" lIns="0" tIns="11430" rIns="0" bIns="0" rtlCol="0">
            <a:spAutoFit/>
          </a:bodyPr>
          <a:lstStyle/>
          <a:p>
            <a:pPr marL="39999" marR="5080" indent="-27936" algn="l">
              <a:lnSpc>
                <a:spcPct val="100099"/>
              </a:lnSpc>
              <a:spcBef>
                <a:spcPts val="90"/>
              </a:spcBef>
            </a:pPr>
            <a:r>
              <a:rPr sz="2000" b="1" dirty="0">
                <a:solidFill>
                  <a:srgbClr val="FF0000"/>
                </a:solidFill>
                <a:latin typeface="Calibri" panose="02020603050405020304" pitchFamily="18" charset="0"/>
                <a:cs typeface="Times New Roman" panose="02020603050405020304" pitchFamily="18" charset="0"/>
              </a:rPr>
              <a:t>Presen</a:t>
            </a:r>
            <a:r>
              <a:rPr lang="en-IN" sz="2000" b="1" dirty="0">
                <a:solidFill>
                  <a:srgbClr val="FF0000"/>
                </a:solidFill>
                <a:latin typeface="Calibri" panose="02020603050405020304" pitchFamily="18" charset="0"/>
                <a:cs typeface="Times New Roman" panose="02020603050405020304" pitchFamily="18" charset="0"/>
              </a:rPr>
              <a:t>ted</a:t>
            </a:r>
            <a:r>
              <a:rPr sz="2000" b="1" spc="-85" dirty="0">
                <a:solidFill>
                  <a:srgbClr val="FF0000"/>
                </a:solidFill>
                <a:latin typeface="Calibri" panose="02020603050405020304" pitchFamily="18" charset="0"/>
                <a:cs typeface="Times New Roman" panose="02020603050405020304" pitchFamily="18" charset="0"/>
              </a:rPr>
              <a:t> </a:t>
            </a:r>
            <a:r>
              <a:rPr sz="2000" b="1" spc="-20" dirty="0">
                <a:solidFill>
                  <a:srgbClr val="FF0000"/>
                </a:solidFill>
                <a:latin typeface="Calibri" panose="02020603050405020304" pitchFamily="18" charset="0"/>
                <a:cs typeface="Times New Roman" panose="02020603050405020304" pitchFamily="18" charset="0"/>
              </a:rPr>
              <a:t>by:</a:t>
            </a:r>
            <a:endParaRPr lang="en-IN" sz="2600" b="1" spc="-20" dirty="0">
              <a:solidFill>
                <a:srgbClr val="FF0000"/>
              </a:solidFill>
              <a:latin typeface="Times New Roman" panose="02020603050405020304" pitchFamily="18" charset="0"/>
              <a:cs typeface="Times New Roman" panose="02020603050405020304" pitchFamily="18" charset="0"/>
            </a:endParaRPr>
          </a:p>
          <a:p>
            <a:pPr marL="39999" marR="5080" indent="-27936" algn="l">
              <a:lnSpc>
                <a:spcPct val="100099"/>
              </a:lnSpc>
              <a:spcBef>
                <a:spcPts val="90"/>
              </a:spcBef>
            </a:pPr>
            <a:r>
              <a:rPr lang="en-IN" sz="2000" b="1" spc="-10" dirty="0">
                <a:solidFill>
                  <a:schemeClr val="tx1">
                    <a:lumMod val="95000"/>
                    <a:lumOff val="5000"/>
                  </a:schemeClr>
                </a:solidFill>
                <a:latin typeface="Tw Cen MT" panose="020B0602020104020603" pitchFamily="34" charset="0"/>
                <a:cs typeface="Times New Roman" panose="02020603050405020304" pitchFamily="18" charset="0"/>
              </a:rPr>
              <a:t>Sk. Sameer</a:t>
            </a:r>
          </a:p>
          <a:p>
            <a:pPr marL="39999" marR="5080" indent="-27936" algn="l">
              <a:lnSpc>
                <a:spcPct val="100099"/>
              </a:lnSpc>
              <a:spcBef>
                <a:spcPts val="90"/>
              </a:spcBef>
            </a:pPr>
            <a:r>
              <a:rPr lang="en-IN" sz="2000" b="1" spc="-10" dirty="0">
                <a:solidFill>
                  <a:schemeClr val="tx1">
                    <a:lumMod val="95000"/>
                    <a:lumOff val="5000"/>
                  </a:schemeClr>
                </a:solidFill>
                <a:latin typeface="Tw Cen MT" panose="020B0602020104020603" pitchFamily="34" charset="0"/>
                <a:cs typeface="Times New Roman" panose="02020603050405020304" pitchFamily="18" charset="0"/>
              </a:rPr>
              <a:t>K. Hemanth</a:t>
            </a:r>
            <a:r>
              <a:rPr sz="2000" b="1" spc="-10" dirty="0">
                <a:solidFill>
                  <a:schemeClr val="tx1">
                    <a:lumMod val="95000"/>
                    <a:lumOff val="5000"/>
                  </a:schemeClr>
                </a:solidFill>
                <a:latin typeface="Tw Cen MT" panose="020B0602020104020603" pitchFamily="34" charset="0"/>
                <a:cs typeface="Times New Roman" panose="02020603050405020304" pitchFamily="18" charset="0"/>
              </a:rPr>
              <a:t> </a:t>
            </a:r>
            <a:endParaRPr lang="en-IN" sz="2000" b="1" spc="-10" dirty="0">
              <a:solidFill>
                <a:schemeClr val="tx1">
                  <a:lumMod val="95000"/>
                  <a:lumOff val="5000"/>
                </a:schemeClr>
              </a:solidFill>
              <a:latin typeface="Tw Cen MT" panose="020B0602020104020603" pitchFamily="34" charset="0"/>
              <a:cs typeface="Times New Roman" panose="02020603050405020304" pitchFamily="18" charset="0"/>
            </a:endParaRPr>
          </a:p>
          <a:p>
            <a:pPr marL="39999" marR="5080" indent="-27936" algn="l">
              <a:lnSpc>
                <a:spcPct val="100099"/>
              </a:lnSpc>
              <a:spcBef>
                <a:spcPts val="90"/>
              </a:spcBef>
            </a:pPr>
            <a:r>
              <a:rPr sz="2000" b="1" dirty="0">
                <a:solidFill>
                  <a:schemeClr val="tx1">
                    <a:lumMod val="95000"/>
                    <a:lumOff val="5000"/>
                  </a:schemeClr>
                </a:solidFill>
                <a:latin typeface="Tw Cen MT" panose="020B0602020104020603" pitchFamily="34" charset="0"/>
                <a:cs typeface="Times New Roman" panose="02020603050405020304" pitchFamily="18" charset="0"/>
              </a:rPr>
              <a:t>Batch</a:t>
            </a:r>
            <a:r>
              <a:rPr sz="2000" b="1" spc="-25" dirty="0">
                <a:solidFill>
                  <a:schemeClr val="tx1">
                    <a:lumMod val="95000"/>
                    <a:lumOff val="5000"/>
                  </a:schemeClr>
                </a:solidFill>
                <a:latin typeface="Tw Cen MT" panose="020B0602020104020603" pitchFamily="34" charset="0"/>
                <a:cs typeface="Times New Roman" panose="02020603050405020304" pitchFamily="18" charset="0"/>
              </a:rPr>
              <a:t> </a:t>
            </a:r>
            <a:r>
              <a:rPr sz="2000" b="1" dirty="0">
                <a:solidFill>
                  <a:schemeClr val="tx1">
                    <a:lumMod val="95000"/>
                    <a:lumOff val="5000"/>
                  </a:schemeClr>
                </a:solidFill>
                <a:latin typeface="Tw Cen MT" panose="020B0602020104020603" pitchFamily="34" charset="0"/>
                <a:cs typeface="Times New Roman" panose="02020603050405020304" pitchFamily="18" charset="0"/>
              </a:rPr>
              <a:t>no:</a:t>
            </a:r>
            <a:r>
              <a:rPr sz="2000" b="1" spc="-40" dirty="0">
                <a:solidFill>
                  <a:schemeClr val="tx1">
                    <a:lumMod val="95000"/>
                    <a:lumOff val="5000"/>
                  </a:schemeClr>
                </a:solidFill>
                <a:latin typeface="Tw Cen MT" panose="020B0602020104020603" pitchFamily="34" charset="0"/>
                <a:cs typeface="Times New Roman" panose="02020603050405020304" pitchFamily="18" charset="0"/>
              </a:rPr>
              <a:t> </a:t>
            </a:r>
            <a:r>
              <a:rPr lang="en-IN" sz="2000" b="1" spc="-25" dirty="0">
                <a:solidFill>
                  <a:schemeClr val="tx1">
                    <a:lumMod val="95000"/>
                    <a:lumOff val="5000"/>
                  </a:schemeClr>
                </a:solidFill>
                <a:latin typeface="Tw Cen MT" panose="020B0602020104020603" pitchFamily="34" charset="0"/>
                <a:cs typeface="Times New Roman" panose="02020603050405020304" pitchFamily="18" charset="0"/>
              </a:rPr>
              <a:t>456</a:t>
            </a:r>
            <a:endParaRPr sz="2400" b="1" dirty="0">
              <a:solidFill>
                <a:schemeClr val="tx1">
                  <a:lumMod val="95000"/>
                  <a:lumOff val="5000"/>
                </a:schemeClr>
              </a:solidFill>
              <a:latin typeface="Tw Cen MT" panose="020B0602020104020603" pitchFamily="34" charset="0"/>
              <a:cs typeface="Times New Roman" panose="02020603050405020304" pitchFamily="18" charset="0"/>
            </a:endParaRPr>
          </a:p>
        </p:txBody>
      </p:sp>
      <p:sp>
        <p:nvSpPr>
          <p:cNvPr id="5" name="object 5" descr="$PPTXTitle"/>
          <p:cNvSpPr txBox="1">
            <a:spLocks noGrp="1"/>
          </p:cNvSpPr>
          <p:nvPr>
            <p:ph type="title"/>
          </p:nvPr>
        </p:nvSpPr>
        <p:spPr>
          <a:xfrm>
            <a:off x="3046412" y="3124200"/>
            <a:ext cx="5910262" cy="908582"/>
          </a:xfrm>
          <a:prstGeom prst="rect">
            <a:avLst/>
          </a:prstGeom>
          <a:solidFill>
            <a:srgbClr val="FFFFFF"/>
          </a:solidFill>
        </p:spPr>
        <p:txBody>
          <a:bodyPr vert="horz" wrap="square" lIns="0" tIns="46355" rIns="0" bIns="0" rtlCol="0">
            <a:spAutoFit/>
          </a:bodyPr>
          <a:lstStyle/>
          <a:p>
            <a:pPr marL="93329" algn="ctr">
              <a:spcBef>
                <a:spcPts val="365"/>
              </a:spcBef>
            </a:pPr>
            <a:r>
              <a:rPr sz="3200" u="none" dirty="0">
                <a:latin typeface="Calibri (Body)"/>
                <a:cs typeface="Tahoma"/>
              </a:rPr>
              <a:t>PR</a:t>
            </a:r>
            <a:r>
              <a:rPr lang="en-IN" sz="3200" u="none" dirty="0">
                <a:latin typeface="Calibri (Body)"/>
                <a:cs typeface="Tahoma"/>
              </a:rPr>
              <a:t>OJECT ON</a:t>
            </a:r>
            <a:br>
              <a:rPr lang="en-IN" sz="4000" u="none" spc="-25" dirty="0">
                <a:latin typeface="Tahoma"/>
                <a:cs typeface="Tahoma"/>
              </a:rPr>
            </a:br>
            <a:r>
              <a:rPr lang="en-IN" sz="2400" u="none" spc="-25" dirty="0">
                <a:solidFill>
                  <a:schemeClr val="tx1"/>
                </a:solidFill>
                <a:latin typeface="Tahoma"/>
                <a:cs typeface="Tahoma"/>
              </a:rPr>
              <a:t>Global EV Sales Analysis</a:t>
            </a:r>
            <a:endParaRPr sz="2400" dirty="0">
              <a:solidFill>
                <a:schemeClr val="tx1"/>
              </a:solidFill>
              <a:latin typeface="Tahoma"/>
              <a:cs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016355" y="381000"/>
            <a:ext cx="1784350" cy="503984"/>
          </a:xfrm>
          <a:prstGeom prst="rect">
            <a:avLst/>
          </a:prstGeom>
        </p:spPr>
        <p:txBody>
          <a:bodyPr vert="horz" wrap="square" lIns="0" tIns="11430" rIns="0" bIns="0" rtlCol="0">
            <a:spAutoFit/>
          </a:bodyPr>
          <a:lstStyle/>
          <a:p>
            <a:pPr marL="12698" algn="ctr">
              <a:spcBef>
                <a:spcPts val="90"/>
              </a:spcBef>
            </a:pPr>
            <a:r>
              <a:rPr sz="3200" b="1" u="none" spc="-10" dirty="0">
                <a:latin typeface="Segoe UI Semibold" panose="020B0702040204020203" pitchFamily="34" charset="0"/>
                <a:cs typeface="Segoe UI Semibold" panose="020B0702040204020203" pitchFamily="34" charset="0"/>
              </a:rPr>
              <a:t>Agenda</a:t>
            </a:r>
          </a:p>
        </p:txBody>
      </p:sp>
      <p:sp>
        <p:nvSpPr>
          <p:cNvPr id="3" name="object 3"/>
          <p:cNvSpPr txBox="1"/>
          <p:nvPr/>
        </p:nvSpPr>
        <p:spPr>
          <a:xfrm>
            <a:off x="649325" y="1066800"/>
            <a:ext cx="4302760" cy="5114862"/>
          </a:xfrm>
          <a:prstGeom prst="rect">
            <a:avLst/>
          </a:prstGeom>
        </p:spPr>
        <p:txBody>
          <a:bodyPr vert="horz" wrap="square" lIns="0" tIns="140335" rIns="0" bIns="0" rtlCol="0">
            <a:spAutoFit/>
          </a:bodyPr>
          <a:lstStyle/>
          <a:p>
            <a:pPr marL="353635" indent="-340937" algn="l">
              <a:spcBef>
                <a:spcPts val="1105"/>
              </a:spcBef>
              <a:buSzPct val="75000"/>
              <a:buFont typeface="Wingdings"/>
              <a:buChar char=""/>
              <a:tabLst>
                <a:tab pos="353635" algn="l"/>
              </a:tabLst>
            </a:pPr>
            <a:r>
              <a:rPr sz="2400" b="0" spc="-10" dirty="0">
                <a:latin typeface="Tw Cen MT" panose="020B0602020104020603" pitchFamily="34" charset="0"/>
                <a:cs typeface="Times New Roman" panose="02020603050405020304" pitchFamily="18" charset="0"/>
              </a:rPr>
              <a:t>Introduction</a:t>
            </a:r>
            <a:r>
              <a:rPr lang="en-IN" sz="2400" b="0" spc="-10" dirty="0">
                <a:latin typeface="Tw Cen MT" panose="020B0602020104020603" pitchFamily="34" charset="0"/>
                <a:cs typeface="Times New Roman" panose="02020603050405020304" pitchFamily="18" charset="0"/>
              </a:rPr>
              <a:t> / </a:t>
            </a:r>
            <a:r>
              <a:rPr lang="en-IN" sz="2400" b="0" dirty="0">
                <a:latin typeface="Tw Cen MT" panose="020B0602020104020603" pitchFamily="34" charset="0"/>
                <a:cs typeface="Times New Roman" panose="02020603050405020304" pitchFamily="18" charset="0"/>
              </a:rPr>
              <a:t>Global EV </a:t>
            </a:r>
            <a:r>
              <a:rPr lang="en-IN" sz="2400" dirty="0">
                <a:latin typeface="Tw Cen MT" panose="020B0602020104020603" pitchFamily="34" charset="0"/>
                <a:cs typeface="Times New Roman" panose="02020603050405020304" pitchFamily="18" charset="0"/>
              </a:rPr>
              <a:t>M</a:t>
            </a:r>
            <a:r>
              <a:rPr lang="en-IN" sz="2400" b="0" dirty="0">
                <a:latin typeface="Tw Cen MT" panose="020B0602020104020603" pitchFamily="34" charset="0"/>
                <a:cs typeface="Times New Roman" panose="02020603050405020304" pitchFamily="18" charset="0"/>
              </a:rPr>
              <a:t>arket </a:t>
            </a:r>
            <a:r>
              <a:rPr lang="en-IN" sz="2400" dirty="0">
                <a:latin typeface="Tw Cen MT" panose="020B0602020104020603" pitchFamily="34" charset="0"/>
                <a:cs typeface="Times New Roman" panose="02020603050405020304" pitchFamily="18" charset="0"/>
              </a:rPr>
              <a:t>O</a:t>
            </a:r>
            <a:r>
              <a:rPr lang="en-IN" sz="2400" b="0" dirty="0">
                <a:latin typeface="Tw Cen MT" panose="020B0602020104020603" pitchFamily="34" charset="0"/>
                <a:cs typeface="Times New Roman" panose="02020603050405020304" pitchFamily="18" charset="0"/>
              </a:rPr>
              <a:t>verview</a:t>
            </a:r>
          </a:p>
          <a:p>
            <a:pPr marL="353635" indent="-340937" algn="l">
              <a:spcBef>
                <a:spcPts val="1105"/>
              </a:spcBef>
              <a:buSzPct val="75000"/>
              <a:buFont typeface="Wingdings"/>
              <a:buChar char=""/>
              <a:tabLst>
                <a:tab pos="353635" algn="l"/>
              </a:tabLst>
            </a:pPr>
            <a:r>
              <a:rPr lang="en-IN" sz="2400" dirty="0">
                <a:latin typeface="Tw Cen MT" panose="020B0602020104020603" pitchFamily="34" charset="0"/>
                <a:cs typeface="Times New Roman" panose="02020603050405020304" pitchFamily="18" charset="0"/>
              </a:rPr>
              <a:t>Business Problem</a:t>
            </a:r>
            <a:endParaRPr sz="2400" dirty="0">
              <a:latin typeface="Tw Cen MT" panose="020B0602020104020603" pitchFamily="34" charset="0"/>
              <a:cs typeface="Times New Roman" panose="02020603050405020304" pitchFamily="18" charset="0"/>
            </a:endParaRPr>
          </a:p>
          <a:p>
            <a:pPr marL="353635" indent="-340937" algn="l">
              <a:spcBef>
                <a:spcPts val="1005"/>
              </a:spcBef>
              <a:buSzPct val="75000"/>
              <a:buFont typeface="Wingdings"/>
              <a:buChar char=""/>
              <a:tabLst>
                <a:tab pos="353635" algn="l"/>
              </a:tabLst>
            </a:pPr>
            <a:r>
              <a:rPr lang="en-IN" sz="2400" dirty="0">
                <a:latin typeface="Tw Cen MT" panose="020B0602020104020603" pitchFamily="34" charset="0"/>
                <a:cs typeface="Times New Roman" panose="02020603050405020304" pitchFamily="18" charset="0"/>
              </a:rPr>
              <a:t>Types of Electric Vehicles</a:t>
            </a:r>
            <a:endParaRPr sz="2400" dirty="0">
              <a:latin typeface="Tw Cen MT" panose="020B0602020104020603" pitchFamily="34" charset="0"/>
              <a:cs typeface="Times New Roman" panose="02020603050405020304" pitchFamily="18" charset="0"/>
            </a:endParaRPr>
          </a:p>
          <a:p>
            <a:pPr marL="353635" indent="-340937" algn="l">
              <a:spcBef>
                <a:spcPts val="1010"/>
              </a:spcBef>
              <a:buSzPct val="75000"/>
              <a:buFont typeface="Wingdings"/>
              <a:buChar char=""/>
              <a:tabLst>
                <a:tab pos="353635" algn="l"/>
              </a:tabLst>
            </a:pPr>
            <a:r>
              <a:rPr lang="en-IN" sz="2400" b="0" spc="-10" dirty="0">
                <a:latin typeface="Tw Cen MT" panose="020B0602020104020603" pitchFamily="34" charset="0"/>
                <a:cs typeface="Times New Roman" panose="02020603050405020304" pitchFamily="18" charset="0"/>
              </a:rPr>
              <a:t>Regional and Category Trends</a:t>
            </a:r>
          </a:p>
          <a:p>
            <a:pPr marL="353635" indent="-340937" algn="l">
              <a:spcBef>
                <a:spcPts val="1010"/>
              </a:spcBef>
              <a:buSzPct val="75000"/>
              <a:buFont typeface="Wingdings"/>
              <a:buChar char=""/>
              <a:tabLst>
                <a:tab pos="353635" algn="l"/>
              </a:tabLst>
            </a:pPr>
            <a:r>
              <a:rPr lang="en-IN" sz="2400" spc="-10" dirty="0">
                <a:latin typeface="Tw Cen MT" panose="020B0602020104020603" pitchFamily="34" charset="0"/>
                <a:cs typeface="Times New Roman" panose="02020603050405020304" pitchFamily="18" charset="0"/>
              </a:rPr>
              <a:t>P</a:t>
            </a:r>
            <a:r>
              <a:rPr lang="en-IN" sz="2400" b="0" spc="-10" dirty="0">
                <a:latin typeface="Tw Cen MT" panose="020B0602020104020603" pitchFamily="34" charset="0"/>
                <a:cs typeface="Times New Roman" panose="02020603050405020304" pitchFamily="18" charset="0"/>
              </a:rPr>
              <a:t>owertrain &amp; Mode Insights</a:t>
            </a:r>
          </a:p>
          <a:p>
            <a:pPr marL="353635" indent="-340937" algn="l">
              <a:spcBef>
                <a:spcPts val="1010"/>
              </a:spcBef>
              <a:buSzPct val="75000"/>
              <a:buFont typeface="Wingdings"/>
              <a:buChar char=""/>
              <a:tabLst>
                <a:tab pos="353635" algn="l"/>
              </a:tabLst>
            </a:pPr>
            <a:r>
              <a:rPr lang="en-IN" sz="2400" spc="-10" dirty="0">
                <a:latin typeface="Tw Cen MT" panose="020B0602020104020603" pitchFamily="34" charset="0"/>
                <a:cs typeface="Times New Roman" panose="02020603050405020304" pitchFamily="18" charset="0"/>
              </a:rPr>
              <a:t>Parameter and Unit Analysis</a:t>
            </a:r>
          </a:p>
          <a:p>
            <a:pPr marL="353635" indent="-340937" algn="l">
              <a:spcBef>
                <a:spcPts val="1010"/>
              </a:spcBef>
              <a:buSzPct val="75000"/>
              <a:buFont typeface="Wingdings"/>
              <a:buChar char=""/>
              <a:tabLst>
                <a:tab pos="353635" algn="l"/>
              </a:tabLst>
            </a:pPr>
            <a:r>
              <a:rPr lang="en-IN" sz="2400" spc="-10" dirty="0">
                <a:latin typeface="Tw Cen MT" panose="020B0602020104020603" pitchFamily="34" charset="0"/>
                <a:cs typeface="Times New Roman" panose="02020603050405020304" pitchFamily="18" charset="0"/>
              </a:rPr>
              <a:t>Time Series &amp; Comparative Analysis</a:t>
            </a:r>
          </a:p>
          <a:p>
            <a:pPr marL="353635" indent="-340937" algn="l">
              <a:spcBef>
                <a:spcPts val="1010"/>
              </a:spcBef>
              <a:buSzPct val="75000"/>
              <a:buFont typeface="Wingdings"/>
              <a:buChar char=""/>
              <a:tabLst>
                <a:tab pos="353635" algn="l"/>
              </a:tabLst>
            </a:pPr>
            <a:r>
              <a:rPr lang="en-IN" sz="2400" spc="-10" dirty="0">
                <a:latin typeface="Tw Cen MT" panose="020B0602020104020603" pitchFamily="34" charset="0"/>
                <a:cs typeface="Times New Roman" panose="02020603050405020304" pitchFamily="18" charset="0"/>
              </a:rPr>
              <a:t>Conclusion and Recommendations</a:t>
            </a:r>
            <a:endParaRPr sz="2400" dirty="0">
              <a:latin typeface="Tw Cen MT" panose="020B0602020104020603" pitchFamily="34"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5E7BF-651E-2976-6683-5AFAEFEFBEED}"/>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0C67F347-2B89-C0E2-EFC1-682BD546A6FC}"/>
              </a:ext>
            </a:extLst>
          </p:cNvPr>
          <p:cNvSpPr txBox="1">
            <a:spLocks noGrp="1"/>
          </p:cNvSpPr>
          <p:nvPr>
            <p:ph type="title"/>
          </p:nvPr>
        </p:nvSpPr>
        <p:spPr>
          <a:xfrm>
            <a:off x="-3735388" y="304800"/>
            <a:ext cx="11254627" cy="735766"/>
          </a:xfrm>
          <a:prstGeom prst="rect">
            <a:avLst/>
          </a:prstGeom>
        </p:spPr>
        <p:txBody>
          <a:bodyPr vert="horz" wrap="square" lIns="0" tIns="240970" rIns="0" bIns="0" rtlCol="0">
            <a:spAutoFit/>
          </a:bodyPr>
          <a:lstStyle/>
          <a:p>
            <a:pPr marL="405697" algn="ctr">
              <a:spcBef>
                <a:spcPts val="90"/>
              </a:spcBef>
            </a:pPr>
            <a:r>
              <a:rPr sz="3200" b="1" u="none" spc="-10" dirty="0">
                <a:latin typeface="Segoe UI Semibold" panose="020B0702040204020203" pitchFamily="34" charset="0"/>
                <a:cs typeface="Segoe UI Semibold" panose="020B0702040204020203" pitchFamily="34" charset="0"/>
              </a:rPr>
              <a:t>Introduction:-</a:t>
            </a:r>
          </a:p>
        </p:txBody>
      </p:sp>
      <p:sp>
        <p:nvSpPr>
          <p:cNvPr id="3" name="object 3">
            <a:extLst>
              <a:ext uri="{FF2B5EF4-FFF2-40B4-BE49-F238E27FC236}">
                <a16:creationId xmlns:a16="http://schemas.microsoft.com/office/drawing/2014/main" id="{50CD41F4-FD95-EE61-D007-02CB89052E36}"/>
              </a:ext>
            </a:extLst>
          </p:cNvPr>
          <p:cNvSpPr txBox="1"/>
          <p:nvPr/>
        </p:nvSpPr>
        <p:spPr>
          <a:xfrm>
            <a:off x="345376" y="1484557"/>
            <a:ext cx="11843449" cy="3529812"/>
          </a:xfrm>
          <a:prstGeom prst="rect">
            <a:avLst/>
          </a:prstGeom>
        </p:spPr>
        <p:txBody>
          <a:bodyPr vert="horz" wrap="square" lIns="0" tIns="53975" rIns="0" bIns="0" rtlCol="0">
            <a:spAutoFit/>
          </a:bodyPr>
          <a:lstStyle/>
          <a:p>
            <a:pPr marL="353635" indent="-340937" algn="l">
              <a:lnSpc>
                <a:spcPts val="2735"/>
              </a:lnSpc>
              <a:spcBef>
                <a:spcPts val="690"/>
              </a:spcBef>
              <a:buSzPct val="75000"/>
              <a:buFont typeface="Arial"/>
              <a:buChar char="•"/>
              <a:tabLst>
                <a:tab pos="353635" algn="l"/>
                <a:tab pos="679969" algn="l"/>
                <a:tab pos="1734525" algn="l"/>
                <a:tab pos="2149109" algn="l"/>
                <a:tab pos="2530045" algn="l"/>
                <a:tab pos="3542063" algn="l"/>
                <a:tab pos="4353455" algn="l"/>
                <a:tab pos="5249287" algn="l"/>
                <a:tab pos="6432091" algn="l"/>
                <a:tab pos="7014287" algn="l"/>
                <a:tab pos="7916469" algn="l"/>
                <a:tab pos="8583740" algn="l"/>
                <a:tab pos="9656707" algn="l"/>
                <a:tab pos="10391913" algn="l"/>
                <a:tab pos="10669359" algn="l"/>
              </a:tabLst>
            </a:pPr>
            <a:r>
              <a:rPr lang="en-US" sz="2400" dirty="0">
                <a:latin typeface="Tw Cen MT" panose="020B0602020104020603" pitchFamily="34" charset="0"/>
              </a:rPr>
              <a:t>Electric Vehicles (EVs) are becoming an important part of transportation across the world.</a:t>
            </a:r>
          </a:p>
          <a:p>
            <a:pPr marL="353635" indent="-340937" algn="l">
              <a:lnSpc>
                <a:spcPts val="2735"/>
              </a:lnSpc>
              <a:spcBef>
                <a:spcPts val="690"/>
              </a:spcBef>
              <a:buSzPct val="75000"/>
              <a:buFont typeface="Arial"/>
              <a:buChar char="•"/>
              <a:tabLst>
                <a:tab pos="353635" algn="l"/>
                <a:tab pos="679969" algn="l"/>
                <a:tab pos="1734525" algn="l"/>
                <a:tab pos="2149109" algn="l"/>
                <a:tab pos="2530045" algn="l"/>
                <a:tab pos="3542063" algn="l"/>
                <a:tab pos="4353455" algn="l"/>
                <a:tab pos="5249287" algn="l"/>
                <a:tab pos="6432091" algn="l"/>
                <a:tab pos="7014287" algn="l"/>
                <a:tab pos="7916469" algn="l"/>
                <a:tab pos="8583740" algn="l"/>
                <a:tab pos="9656707" algn="l"/>
                <a:tab pos="10391913" algn="l"/>
                <a:tab pos="10669359" algn="l"/>
              </a:tabLst>
            </a:pPr>
            <a:r>
              <a:rPr lang="en-US" sz="2400" dirty="0">
                <a:latin typeface="Tw Cen MT" panose="020B0602020104020603" pitchFamily="34" charset="0"/>
              </a:rPr>
              <a:t>As fuel prices increase and pollution becomes a serious concern, many countries are moving towards electric vehicles as a cleaner and more affordable option. </a:t>
            </a:r>
          </a:p>
          <a:p>
            <a:pPr marL="353635" indent="-340937" algn="l">
              <a:lnSpc>
                <a:spcPts val="2735"/>
              </a:lnSpc>
              <a:spcBef>
                <a:spcPts val="690"/>
              </a:spcBef>
              <a:buSzPct val="75000"/>
              <a:buFont typeface="Arial"/>
              <a:buChar char="•"/>
              <a:tabLst>
                <a:tab pos="353635" algn="l"/>
                <a:tab pos="679969" algn="l"/>
                <a:tab pos="1734525" algn="l"/>
                <a:tab pos="2149109" algn="l"/>
                <a:tab pos="2530045" algn="l"/>
                <a:tab pos="3542063" algn="l"/>
                <a:tab pos="4353455" algn="l"/>
                <a:tab pos="5249287" algn="l"/>
                <a:tab pos="6432091" algn="l"/>
                <a:tab pos="7014287" algn="l"/>
                <a:tab pos="7916469" algn="l"/>
                <a:tab pos="8583740" algn="l"/>
                <a:tab pos="9656707" algn="l"/>
                <a:tab pos="10391913" algn="l"/>
                <a:tab pos="10669359" algn="l"/>
              </a:tabLst>
            </a:pPr>
            <a:r>
              <a:rPr lang="en-US" sz="2400" dirty="0">
                <a:latin typeface="Tw Cen MT" panose="020B0602020104020603" pitchFamily="34" charset="0"/>
              </a:rPr>
              <a:t>This project studies global electric vehicle data to understand how EV usage is growing in different regions. </a:t>
            </a:r>
          </a:p>
          <a:p>
            <a:pPr marL="353635" indent="-340937" algn="l">
              <a:lnSpc>
                <a:spcPts val="2735"/>
              </a:lnSpc>
              <a:spcBef>
                <a:spcPts val="690"/>
              </a:spcBef>
              <a:buSzPct val="75000"/>
              <a:buFont typeface="Arial"/>
              <a:buChar char="•"/>
              <a:tabLst>
                <a:tab pos="353635" algn="l"/>
                <a:tab pos="679969" algn="l"/>
                <a:tab pos="1734525" algn="l"/>
                <a:tab pos="2149109" algn="l"/>
                <a:tab pos="2530045" algn="l"/>
                <a:tab pos="3542063" algn="l"/>
                <a:tab pos="4353455" algn="l"/>
                <a:tab pos="5249287" algn="l"/>
                <a:tab pos="6432091" algn="l"/>
                <a:tab pos="7014287" algn="l"/>
                <a:tab pos="7916469" algn="l"/>
                <a:tab pos="8583740" algn="l"/>
                <a:tab pos="9656707" algn="l"/>
                <a:tab pos="10391913" algn="l"/>
                <a:tab pos="10669359" algn="l"/>
              </a:tabLst>
            </a:pPr>
            <a:r>
              <a:rPr lang="en-US" sz="2400" dirty="0">
                <a:latin typeface="Tw Cen MT" panose="020B0602020104020603" pitchFamily="34" charset="0"/>
              </a:rPr>
              <a:t>It looks at the types of electric vehicles, their usage patterns, and how trends have changed over time.</a:t>
            </a:r>
          </a:p>
          <a:p>
            <a:pPr marL="353635" indent="-340937" algn="l">
              <a:lnSpc>
                <a:spcPts val="2735"/>
              </a:lnSpc>
              <a:spcBef>
                <a:spcPts val="690"/>
              </a:spcBef>
              <a:buSzPct val="75000"/>
              <a:buFont typeface="Arial"/>
              <a:buChar char="•"/>
              <a:tabLst>
                <a:tab pos="353635" algn="l"/>
                <a:tab pos="679969" algn="l"/>
                <a:tab pos="1734525" algn="l"/>
                <a:tab pos="2149109" algn="l"/>
                <a:tab pos="2530045" algn="l"/>
                <a:tab pos="3542063" algn="l"/>
                <a:tab pos="4353455" algn="l"/>
                <a:tab pos="5249287" algn="l"/>
                <a:tab pos="6432091" algn="l"/>
                <a:tab pos="7014287" algn="l"/>
                <a:tab pos="7916469" algn="l"/>
                <a:tab pos="8583740" algn="l"/>
                <a:tab pos="9656707" algn="l"/>
                <a:tab pos="10391913" algn="l"/>
                <a:tab pos="10669359" algn="l"/>
              </a:tabLst>
            </a:pPr>
            <a:r>
              <a:rPr lang="en-US" sz="2400" dirty="0">
                <a:latin typeface="Tw Cen MT" panose="020B0602020104020603" pitchFamily="34" charset="0"/>
              </a:rPr>
              <a:t>India has started adopting electric vehicles rapidly, with increasing awareness, government support, and growing charging infrastructure.</a:t>
            </a:r>
            <a:endParaRPr lang="en-IN" sz="2400" dirty="0">
              <a:latin typeface="Tw Cen MT" panose="020B0602020104020603" pitchFamily="34" charset="0"/>
            </a:endParaRPr>
          </a:p>
        </p:txBody>
      </p:sp>
    </p:spTree>
    <p:extLst>
      <p:ext uri="{BB962C8B-B14F-4D97-AF65-F5344CB8AC3E}">
        <p14:creationId xmlns:p14="http://schemas.microsoft.com/office/powerpoint/2010/main" val="14837013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354388" y="304800"/>
            <a:ext cx="11254627" cy="735766"/>
          </a:xfrm>
          <a:prstGeom prst="rect">
            <a:avLst/>
          </a:prstGeom>
        </p:spPr>
        <p:txBody>
          <a:bodyPr vert="horz" wrap="square" lIns="0" tIns="240970" rIns="0" bIns="0" rtlCol="0">
            <a:spAutoFit/>
          </a:bodyPr>
          <a:lstStyle/>
          <a:p>
            <a:pPr marL="405697" algn="ctr">
              <a:spcBef>
                <a:spcPts val="90"/>
              </a:spcBef>
            </a:pPr>
            <a:r>
              <a:rPr lang="en-IN" sz="3200" u="none" spc="-10" dirty="0">
                <a:latin typeface="Segoe UI Semibold" panose="020B0702040204020203" pitchFamily="34" charset="0"/>
                <a:cs typeface="Segoe UI Semibold" panose="020B0702040204020203" pitchFamily="34" charset="0"/>
              </a:rPr>
              <a:t>Business Problem</a:t>
            </a:r>
            <a:r>
              <a:rPr sz="3200" b="1" u="none" spc="-10" dirty="0">
                <a:latin typeface="Segoe UI Semibold" panose="020B0702040204020203" pitchFamily="34" charset="0"/>
                <a:cs typeface="Segoe UI Semibold" panose="020B0702040204020203" pitchFamily="34" charset="0"/>
              </a:rPr>
              <a:t>:-</a:t>
            </a:r>
          </a:p>
        </p:txBody>
      </p:sp>
      <p:sp>
        <p:nvSpPr>
          <p:cNvPr id="3" name="object 3"/>
          <p:cNvSpPr txBox="1"/>
          <p:nvPr/>
        </p:nvSpPr>
        <p:spPr>
          <a:xfrm>
            <a:off x="345377" y="1484557"/>
            <a:ext cx="9178036" cy="3350276"/>
          </a:xfrm>
          <a:prstGeom prst="rect">
            <a:avLst/>
          </a:prstGeom>
        </p:spPr>
        <p:txBody>
          <a:bodyPr vert="horz" wrap="square" lIns="0" tIns="53975" rIns="0" bIns="0" rtlCol="0">
            <a:spAutoFit/>
          </a:bodyPr>
          <a:lstStyle/>
          <a:p>
            <a:pPr marL="353635" indent="-340937" algn="l">
              <a:lnSpc>
                <a:spcPts val="2735"/>
              </a:lnSpc>
              <a:spcBef>
                <a:spcPts val="690"/>
              </a:spcBef>
              <a:buSzPct val="75000"/>
              <a:buFont typeface="Arial"/>
              <a:buChar char="•"/>
              <a:tabLst>
                <a:tab pos="353635" algn="l"/>
                <a:tab pos="679969" algn="l"/>
                <a:tab pos="1734525" algn="l"/>
                <a:tab pos="2149109" algn="l"/>
                <a:tab pos="2530045" algn="l"/>
                <a:tab pos="3542063" algn="l"/>
                <a:tab pos="4353455" algn="l"/>
                <a:tab pos="5249287" algn="l"/>
                <a:tab pos="6432091" algn="l"/>
                <a:tab pos="7014287" algn="l"/>
                <a:tab pos="7916469" algn="l"/>
                <a:tab pos="8583740" algn="l"/>
                <a:tab pos="9656707" algn="l"/>
                <a:tab pos="10391913" algn="l"/>
                <a:tab pos="10669359" algn="l"/>
              </a:tabLst>
            </a:pPr>
            <a:r>
              <a:rPr lang="en-US" sz="2400" dirty="0">
                <a:latin typeface="Tw Cen MT" panose="020B0602020104020603" pitchFamily="34" charset="0"/>
              </a:rPr>
              <a:t>How can automotive companies and policymakers understand global EV trends by region, vehicle type, and powertrain to make better decisions on production, sales strategy, and infrastructure planning?</a:t>
            </a:r>
          </a:p>
          <a:p>
            <a:pPr marL="353635" indent="-340937" algn="l">
              <a:lnSpc>
                <a:spcPts val="2735"/>
              </a:lnSpc>
              <a:spcBef>
                <a:spcPts val="690"/>
              </a:spcBef>
              <a:buSzPct val="75000"/>
              <a:buFont typeface="Arial"/>
              <a:buChar char="•"/>
              <a:tabLst>
                <a:tab pos="353635" algn="l"/>
                <a:tab pos="679969" algn="l"/>
                <a:tab pos="1734525" algn="l"/>
                <a:tab pos="2149109" algn="l"/>
                <a:tab pos="2530045" algn="l"/>
                <a:tab pos="3542063" algn="l"/>
                <a:tab pos="4353455" algn="l"/>
                <a:tab pos="5249287" algn="l"/>
                <a:tab pos="6432091" algn="l"/>
                <a:tab pos="7014287" algn="l"/>
                <a:tab pos="7916469" algn="l"/>
                <a:tab pos="8583740" algn="l"/>
                <a:tab pos="9656707" algn="l"/>
                <a:tab pos="10391913" algn="l"/>
                <a:tab pos="10669359" algn="l"/>
              </a:tabLst>
            </a:pPr>
            <a:r>
              <a:rPr lang="en-US" sz="2400" dirty="0">
                <a:latin typeface="Tw Cen MT" panose="020B0602020104020603" pitchFamily="34" charset="0"/>
                <a:cs typeface="Times New Roman" panose="02020603050405020304" pitchFamily="18" charset="0"/>
              </a:rPr>
              <a:t>As we see a lot of problems we are facing regarding the services of Ev, We saw recent clashes of Ola service centers there is no services provided properly as we just started adopting the Ev.</a:t>
            </a:r>
          </a:p>
          <a:p>
            <a:pPr marL="353635" indent="-340937" algn="l">
              <a:lnSpc>
                <a:spcPts val="2735"/>
              </a:lnSpc>
              <a:spcBef>
                <a:spcPts val="690"/>
              </a:spcBef>
              <a:buSzPct val="75000"/>
              <a:buFont typeface="Arial"/>
              <a:buChar char="•"/>
              <a:tabLst>
                <a:tab pos="353635" algn="l"/>
                <a:tab pos="679969" algn="l"/>
                <a:tab pos="1734525" algn="l"/>
                <a:tab pos="2149109" algn="l"/>
                <a:tab pos="2530045" algn="l"/>
                <a:tab pos="3542063" algn="l"/>
                <a:tab pos="4353455" algn="l"/>
                <a:tab pos="5249287" algn="l"/>
                <a:tab pos="6432091" algn="l"/>
                <a:tab pos="7014287" algn="l"/>
                <a:tab pos="7916469" algn="l"/>
                <a:tab pos="8583740" algn="l"/>
                <a:tab pos="9656707" algn="l"/>
                <a:tab pos="10391913" algn="l"/>
                <a:tab pos="10669359" algn="l"/>
              </a:tabLst>
            </a:pPr>
            <a:r>
              <a:rPr lang="en-US" sz="2400" dirty="0">
                <a:latin typeface="Tw Cen MT" panose="020B0602020104020603" pitchFamily="34" charset="0"/>
              </a:rPr>
              <a:t>Without data-driven insights into sales performance, usage patterns, and service challenges, companies risk losing customer trust, slowing EV adoption, and facing operational inefficiencies.</a:t>
            </a:r>
            <a:endParaRPr lang="en-US" sz="2400" dirty="0">
              <a:latin typeface="Tw Cen MT" panose="020B0602020104020603" pitchFamily="34"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912812" y="457200"/>
            <a:ext cx="6669354" cy="575670"/>
          </a:xfrm>
          <a:prstGeom prst="rect">
            <a:avLst/>
          </a:prstGeom>
        </p:spPr>
        <p:txBody>
          <a:bodyPr vert="horz" wrap="square" lIns="0" tIns="82423" rIns="0" bIns="0" rtlCol="0">
            <a:spAutoFit/>
          </a:bodyPr>
          <a:lstStyle/>
          <a:p>
            <a:pPr marL="12698" algn="l">
              <a:spcBef>
                <a:spcPts val="1005"/>
              </a:spcBef>
              <a:buSzPct val="75000"/>
              <a:tabLst>
                <a:tab pos="353635" algn="l"/>
              </a:tabLst>
            </a:pPr>
            <a:r>
              <a:rPr lang="en-IN" sz="3200" b="0" u="none" dirty="0">
                <a:latin typeface="Segoe UI Semibold" panose="020B0702040204020203" pitchFamily="34" charset="0"/>
                <a:cs typeface="Segoe UI Semibold" panose="020B0702040204020203" pitchFamily="34" charset="0"/>
              </a:rPr>
              <a:t>Types of Electric Vehicles</a:t>
            </a:r>
          </a:p>
        </p:txBody>
      </p:sp>
      <p:sp>
        <p:nvSpPr>
          <p:cNvPr id="27" name="TextBox 26">
            <a:extLst>
              <a:ext uri="{FF2B5EF4-FFF2-40B4-BE49-F238E27FC236}">
                <a16:creationId xmlns:a16="http://schemas.microsoft.com/office/drawing/2014/main" id="{BBA88F1D-79BC-9068-233A-AE8FAFB393B0}"/>
              </a:ext>
            </a:extLst>
          </p:cNvPr>
          <p:cNvSpPr txBox="1"/>
          <p:nvPr/>
        </p:nvSpPr>
        <p:spPr>
          <a:xfrm>
            <a:off x="531812" y="1295400"/>
            <a:ext cx="9677400"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w Cen MT" panose="020B0602020104020603" pitchFamily="34" charset="0"/>
              </a:rPr>
              <a:t>BEV (Battery Electric Vehicle): Runs fully on electricity and does not use petrol or diesel.</a:t>
            </a:r>
          </a:p>
          <a:p>
            <a:pPr marL="342900" indent="-342900">
              <a:buFont typeface="Arial" panose="020B0604020202020204" pitchFamily="34" charset="0"/>
              <a:buChar char="•"/>
            </a:pPr>
            <a:r>
              <a:rPr lang="en-US" sz="2400" dirty="0">
                <a:latin typeface="Tw Cen MT" panose="020B0602020104020603" pitchFamily="34" charset="0"/>
              </a:rPr>
              <a:t>PHEV (Plug-in Hybrid Electric Vehicle): Uses both electricity and fuel, and can be charged using a plug.</a:t>
            </a:r>
          </a:p>
          <a:p>
            <a:pPr marL="342900" indent="-342900">
              <a:buFont typeface="Arial" panose="020B0604020202020204" pitchFamily="34" charset="0"/>
              <a:buChar char="•"/>
            </a:pPr>
            <a:r>
              <a:rPr lang="en-US" sz="2400" dirty="0">
                <a:latin typeface="Tw Cen MT" panose="020B0602020104020603" pitchFamily="34" charset="0"/>
              </a:rPr>
              <a:t>HEV (Hybrid Electric Vehicle): Uses fuel along with a small electric motor but does not need external charging.</a:t>
            </a:r>
          </a:p>
          <a:p>
            <a:pPr marL="342900" indent="-342900">
              <a:buFont typeface="Arial" panose="020B0604020202020204" pitchFamily="34" charset="0"/>
              <a:buChar char="•"/>
            </a:pPr>
            <a:r>
              <a:rPr lang="en-US" sz="2400" dirty="0">
                <a:latin typeface="Tw Cen MT" panose="020B0602020104020603" pitchFamily="34" charset="0"/>
              </a:rPr>
              <a:t>FCEV (Fuel Cell Electric Vehicle):Uses hydrogen to produce electricity and releases only water as emission.</a:t>
            </a:r>
            <a:endParaRPr lang="en-IN" sz="2400" dirty="0">
              <a:latin typeface="Tw Cen MT" panose="020B0602020104020603"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F7FA6C-B06C-196A-4AAE-ED22E61E053C}"/>
              </a:ext>
            </a:extLst>
          </p:cNvPr>
          <p:cNvPicPr>
            <a:picLocks noChangeAspect="1"/>
          </p:cNvPicPr>
          <p:nvPr/>
        </p:nvPicPr>
        <p:blipFill>
          <a:blip r:embed="rId2"/>
          <a:stretch>
            <a:fillRect/>
          </a:stretch>
        </p:blipFill>
        <p:spPr>
          <a:xfrm>
            <a:off x="0" y="4284"/>
            <a:ext cx="12188825" cy="6849431"/>
          </a:xfrm>
          <a:prstGeom prst="rect">
            <a:avLst/>
          </a:prstGeom>
        </p:spPr>
      </p:pic>
      <p:pic>
        <p:nvPicPr>
          <p:cNvPr id="8" name="Picture 7">
            <a:extLst>
              <a:ext uri="{FF2B5EF4-FFF2-40B4-BE49-F238E27FC236}">
                <a16:creationId xmlns:a16="http://schemas.microsoft.com/office/drawing/2014/main" id="{DCE09C12-45C2-A5B9-5543-68A10B6CDA8D}"/>
              </a:ext>
            </a:extLst>
          </p:cNvPr>
          <p:cNvPicPr>
            <a:picLocks noChangeAspect="1"/>
          </p:cNvPicPr>
          <p:nvPr/>
        </p:nvPicPr>
        <p:blipFill>
          <a:blip r:embed="rId3"/>
          <a:stretch>
            <a:fillRect/>
          </a:stretch>
        </p:blipFill>
        <p:spPr>
          <a:xfrm>
            <a:off x="18964" y="0"/>
            <a:ext cx="12150897" cy="6858000"/>
          </a:xfrm>
          <a:prstGeom prst="rect">
            <a:avLst/>
          </a:prstGeom>
        </p:spPr>
      </p:pic>
      <p:pic>
        <p:nvPicPr>
          <p:cNvPr id="4" name="Picture 3">
            <a:extLst>
              <a:ext uri="{FF2B5EF4-FFF2-40B4-BE49-F238E27FC236}">
                <a16:creationId xmlns:a16="http://schemas.microsoft.com/office/drawing/2014/main" id="{D99ADF51-C2C0-1474-5BF0-D415A990D2D0}"/>
              </a:ext>
            </a:extLst>
          </p:cNvPr>
          <p:cNvPicPr>
            <a:picLocks noChangeAspect="1"/>
          </p:cNvPicPr>
          <p:nvPr/>
        </p:nvPicPr>
        <p:blipFill>
          <a:blip r:embed="rId4"/>
          <a:stretch>
            <a:fillRect/>
          </a:stretch>
        </p:blipFill>
        <p:spPr>
          <a:xfrm>
            <a:off x="6867" y="0"/>
            <a:ext cx="12175090" cy="6858000"/>
          </a:xfrm>
          <a:prstGeom prst="rect">
            <a:avLst/>
          </a:prstGeom>
        </p:spPr>
      </p:pic>
    </p:spTree>
    <p:extLst>
      <p:ext uri="{BB962C8B-B14F-4D97-AF65-F5344CB8AC3E}">
        <p14:creationId xmlns:p14="http://schemas.microsoft.com/office/powerpoint/2010/main" val="9084286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D75F53-5C0E-63E0-C2EA-EE7BDBA02997}"/>
              </a:ext>
            </a:extLst>
          </p:cNvPr>
          <p:cNvPicPr>
            <a:picLocks noChangeAspect="1"/>
          </p:cNvPicPr>
          <p:nvPr/>
        </p:nvPicPr>
        <p:blipFill>
          <a:blip r:embed="rId2"/>
          <a:stretch>
            <a:fillRect/>
          </a:stretch>
        </p:blipFill>
        <p:spPr>
          <a:xfrm>
            <a:off x="1" y="4284"/>
            <a:ext cx="12188824" cy="6849431"/>
          </a:xfrm>
          <a:prstGeom prst="rect">
            <a:avLst/>
          </a:prstGeom>
        </p:spPr>
      </p:pic>
      <p:pic>
        <p:nvPicPr>
          <p:cNvPr id="4" name="Picture 3">
            <a:extLst>
              <a:ext uri="{FF2B5EF4-FFF2-40B4-BE49-F238E27FC236}">
                <a16:creationId xmlns:a16="http://schemas.microsoft.com/office/drawing/2014/main" id="{F73FBBA7-BAE7-76DF-CE26-75B0AEA73286}"/>
              </a:ext>
            </a:extLst>
          </p:cNvPr>
          <p:cNvPicPr>
            <a:picLocks noChangeAspect="1"/>
          </p:cNvPicPr>
          <p:nvPr/>
        </p:nvPicPr>
        <p:blipFill>
          <a:blip r:embed="rId3"/>
          <a:stretch>
            <a:fillRect/>
          </a:stretch>
        </p:blipFill>
        <p:spPr>
          <a:xfrm>
            <a:off x="-18963" y="0"/>
            <a:ext cx="12207787" cy="6858000"/>
          </a:xfrm>
          <a:prstGeom prst="rect">
            <a:avLst/>
          </a:prstGeom>
        </p:spPr>
      </p:pic>
      <p:pic>
        <p:nvPicPr>
          <p:cNvPr id="6" name="Picture 5">
            <a:extLst>
              <a:ext uri="{FF2B5EF4-FFF2-40B4-BE49-F238E27FC236}">
                <a16:creationId xmlns:a16="http://schemas.microsoft.com/office/drawing/2014/main" id="{DB287A09-ED4C-938D-8EE7-0DBA64E19281}"/>
              </a:ext>
            </a:extLst>
          </p:cNvPr>
          <p:cNvPicPr>
            <a:picLocks noChangeAspect="1"/>
          </p:cNvPicPr>
          <p:nvPr/>
        </p:nvPicPr>
        <p:blipFill>
          <a:blip r:embed="rId4"/>
          <a:stretch>
            <a:fillRect/>
          </a:stretch>
        </p:blipFill>
        <p:spPr>
          <a:xfrm>
            <a:off x="-32110" y="0"/>
            <a:ext cx="12207787" cy="6858000"/>
          </a:xfrm>
          <a:prstGeom prst="rect">
            <a:avLst/>
          </a:prstGeom>
        </p:spPr>
      </p:pic>
      <p:pic>
        <p:nvPicPr>
          <p:cNvPr id="5" name="Picture 4">
            <a:extLst>
              <a:ext uri="{FF2B5EF4-FFF2-40B4-BE49-F238E27FC236}">
                <a16:creationId xmlns:a16="http://schemas.microsoft.com/office/drawing/2014/main" id="{7A571CF1-59A7-97B0-C5AA-1B9501DA3261}"/>
              </a:ext>
            </a:extLst>
          </p:cNvPr>
          <p:cNvPicPr>
            <a:picLocks noChangeAspect="1"/>
          </p:cNvPicPr>
          <p:nvPr/>
        </p:nvPicPr>
        <p:blipFill>
          <a:blip r:embed="rId5"/>
          <a:stretch>
            <a:fillRect/>
          </a:stretch>
        </p:blipFill>
        <p:spPr>
          <a:xfrm>
            <a:off x="-32110" y="0"/>
            <a:ext cx="12216199" cy="6858000"/>
          </a:xfrm>
          <a:prstGeom prst="rect">
            <a:avLst/>
          </a:prstGeom>
        </p:spPr>
      </p:pic>
      <p:pic>
        <p:nvPicPr>
          <p:cNvPr id="8" name="Picture 7">
            <a:extLst>
              <a:ext uri="{FF2B5EF4-FFF2-40B4-BE49-F238E27FC236}">
                <a16:creationId xmlns:a16="http://schemas.microsoft.com/office/drawing/2014/main" id="{E0B918F7-431C-FACB-8C3D-CAA23BECD5AA}"/>
              </a:ext>
            </a:extLst>
          </p:cNvPr>
          <p:cNvPicPr>
            <a:picLocks noChangeAspect="1"/>
          </p:cNvPicPr>
          <p:nvPr/>
        </p:nvPicPr>
        <p:blipFill>
          <a:blip r:embed="rId6"/>
          <a:stretch>
            <a:fillRect/>
          </a:stretch>
        </p:blipFill>
        <p:spPr>
          <a:xfrm>
            <a:off x="5800" y="0"/>
            <a:ext cx="12177224" cy="6858000"/>
          </a:xfrm>
          <a:prstGeom prst="rect">
            <a:avLst/>
          </a:prstGeom>
        </p:spPr>
      </p:pic>
      <p:pic>
        <p:nvPicPr>
          <p:cNvPr id="10" name="Picture 9">
            <a:extLst>
              <a:ext uri="{FF2B5EF4-FFF2-40B4-BE49-F238E27FC236}">
                <a16:creationId xmlns:a16="http://schemas.microsoft.com/office/drawing/2014/main" id="{CB02F0C3-0092-FC78-4975-8AAC5C14D196}"/>
              </a:ext>
            </a:extLst>
          </p:cNvPr>
          <p:cNvPicPr>
            <a:picLocks noChangeAspect="1"/>
          </p:cNvPicPr>
          <p:nvPr/>
        </p:nvPicPr>
        <p:blipFill>
          <a:blip r:embed="rId7"/>
          <a:stretch>
            <a:fillRect/>
          </a:stretch>
        </p:blipFill>
        <p:spPr>
          <a:xfrm>
            <a:off x="1051" y="0"/>
            <a:ext cx="12186723" cy="6858000"/>
          </a:xfrm>
          <a:prstGeom prst="rect">
            <a:avLst/>
          </a:prstGeom>
        </p:spPr>
      </p:pic>
    </p:spTree>
    <p:extLst>
      <p:ext uri="{BB962C8B-B14F-4D97-AF65-F5344CB8AC3E}">
        <p14:creationId xmlns:p14="http://schemas.microsoft.com/office/powerpoint/2010/main" val="802835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56DC8-BDC1-C415-983E-73CB303A199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62A4F0F-63EB-7DC7-97B5-4A50BA976E9D}"/>
              </a:ext>
            </a:extLst>
          </p:cNvPr>
          <p:cNvPicPr>
            <a:picLocks noChangeAspect="1"/>
          </p:cNvPicPr>
          <p:nvPr/>
        </p:nvPicPr>
        <p:blipFill>
          <a:blip r:embed="rId2"/>
          <a:stretch>
            <a:fillRect/>
          </a:stretch>
        </p:blipFill>
        <p:spPr>
          <a:xfrm>
            <a:off x="0" y="0"/>
            <a:ext cx="12188825" cy="6857999"/>
          </a:xfrm>
          <a:prstGeom prst="rect">
            <a:avLst/>
          </a:prstGeom>
        </p:spPr>
      </p:pic>
      <p:pic>
        <p:nvPicPr>
          <p:cNvPr id="4" name="Picture 3">
            <a:extLst>
              <a:ext uri="{FF2B5EF4-FFF2-40B4-BE49-F238E27FC236}">
                <a16:creationId xmlns:a16="http://schemas.microsoft.com/office/drawing/2014/main" id="{8A558AD0-8968-7221-EE4A-C55D41E6CEE3}"/>
              </a:ext>
            </a:extLst>
          </p:cNvPr>
          <p:cNvPicPr>
            <a:picLocks noChangeAspect="1"/>
          </p:cNvPicPr>
          <p:nvPr/>
        </p:nvPicPr>
        <p:blipFill>
          <a:blip r:embed="rId3"/>
          <a:stretch>
            <a:fillRect/>
          </a:stretch>
        </p:blipFill>
        <p:spPr>
          <a:xfrm>
            <a:off x="0" y="8326"/>
            <a:ext cx="12188825" cy="6841347"/>
          </a:xfrm>
          <a:prstGeom prst="rect">
            <a:avLst/>
          </a:prstGeom>
        </p:spPr>
      </p:pic>
    </p:spTree>
    <p:extLst>
      <p:ext uri="{BB962C8B-B14F-4D97-AF65-F5344CB8AC3E}">
        <p14:creationId xmlns:p14="http://schemas.microsoft.com/office/powerpoint/2010/main" val="962054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201EC6-20D2-5344-C6ED-43CE6159A3E1}"/>
              </a:ext>
            </a:extLst>
          </p:cNvPr>
          <p:cNvPicPr>
            <a:picLocks noChangeAspect="1"/>
          </p:cNvPicPr>
          <p:nvPr/>
        </p:nvPicPr>
        <p:blipFill>
          <a:blip r:embed="rId2"/>
          <a:stretch>
            <a:fillRect/>
          </a:stretch>
        </p:blipFill>
        <p:spPr>
          <a:xfrm>
            <a:off x="0" y="0"/>
            <a:ext cx="12181737" cy="6858000"/>
          </a:xfrm>
          <a:prstGeom prst="rect">
            <a:avLst/>
          </a:prstGeom>
        </p:spPr>
      </p:pic>
      <p:pic>
        <p:nvPicPr>
          <p:cNvPr id="6" name="Picture 5">
            <a:extLst>
              <a:ext uri="{FF2B5EF4-FFF2-40B4-BE49-F238E27FC236}">
                <a16:creationId xmlns:a16="http://schemas.microsoft.com/office/drawing/2014/main" id="{27FEA70E-4DE1-2753-3B7E-46FA19A0325A}"/>
              </a:ext>
            </a:extLst>
          </p:cNvPr>
          <p:cNvPicPr>
            <a:picLocks noChangeAspect="1"/>
          </p:cNvPicPr>
          <p:nvPr/>
        </p:nvPicPr>
        <p:blipFill>
          <a:blip r:embed="rId3"/>
          <a:stretch>
            <a:fillRect/>
          </a:stretch>
        </p:blipFill>
        <p:spPr>
          <a:xfrm>
            <a:off x="0" y="-2079"/>
            <a:ext cx="12188825" cy="6858000"/>
          </a:xfrm>
          <a:prstGeom prst="rect">
            <a:avLst/>
          </a:prstGeom>
        </p:spPr>
      </p:pic>
      <p:pic>
        <p:nvPicPr>
          <p:cNvPr id="4" name="Picture 3">
            <a:extLst>
              <a:ext uri="{FF2B5EF4-FFF2-40B4-BE49-F238E27FC236}">
                <a16:creationId xmlns:a16="http://schemas.microsoft.com/office/drawing/2014/main" id="{6CB3E7A3-E1B0-92CF-0FF6-CBF0ABA713F5}"/>
              </a:ext>
            </a:extLst>
          </p:cNvPr>
          <p:cNvPicPr>
            <a:picLocks noChangeAspect="1"/>
          </p:cNvPicPr>
          <p:nvPr/>
        </p:nvPicPr>
        <p:blipFill>
          <a:blip r:embed="rId4"/>
          <a:stretch>
            <a:fillRect/>
          </a:stretch>
        </p:blipFill>
        <p:spPr>
          <a:xfrm>
            <a:off x="0" y="893"/>
            <a:ext cx="12188825" cy="6856214"/>
          </a:xfrm>
          <a:prstGeom prst="rect">
            <a:avLst/>
          </a:prstGeom>
        </p:spPr>
      </p:pic>
      <p:pic>
        <p:nvPicPr>
          <p:cNvPr id="7" name="Picture 6">
            <a:extLst>
              <a:ext uri="{FF2B5EF4-FFF2-40B4-BE49-F238E27FC236}">
                <a16:creationId xmlns:a16="http://schemas.microsoft.com/office/drawing/2014/main" id="{40F79F09-5A07-3B70-F6BB-59722423FB92}"/>
              </a:ext>
            </a:extLst>
          </p:cNvPr>
          <p:cNvPicPr>
            <a:picLocks noChangeAspect="1"/>
          </p:cNvPicPr>
          <p:nvPr/>
        </p:nvPicPr>
        <p:blipFill>
          <a:blip r:embed="rId5"/>
          <a:stretch>
            <a:fillRect/>
          </a:stretch>
        </p:blipFill>
        <p:spPr>
          <a:xfrm>
            <a:off x="0" y="893"/>
            <a:ext cx="12188825" cy="6856214"/>
          </a:xfrm>
          <a:prstGeom prst="rect">
            <a:avLst/>
          </a:prstGeom>
        </p:spPr>
      </p:pic>
    </p:spTree>
    <p:extLst>
      <p:ext uri="{BB962C8B-B14F-4D97-AF65-F5344CB8AC3E}">
        <p14:creationId xmlns:p14="http://schemas.microsoft.com/office/powerpoint/2010/main" val="262857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CBB84-9BA7-1314-E21C-4BDDC7D24337}"/>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7B3E0380-E236-377F-768F-6F5F4547E467}"/>
              </a:ext>
            </a:extLst>
          </p:cNvPr>
          <p:cNvSpPr txBox="1">
            <a:spLocks noGrp="1"/>
          </p:cNvSpPr>
          <p:nvPr>
            <p:ph type="title"/>
          </p:nvPr>
        </p:nvSpPr>
        <p:spPr>
          <a:xfrm>
            <a:off x="150812" y="609600"/>
            <a:ext cx="4038600" cy="504625"/>
          </a:xfrm>
          <a:prstGeom prst="rect">
            <a:avLst/>
          </a:prstGeom>
        </p:spPr>
        <p:txBody>
          <a:bodyPr vert="horz" wrap="square" lIns="0" tIns="12065" rIns="0" bIns="0" rtlCol="0">
            <a:spAutoFit/>
          </a:bodyPr>
          <a:lstStyle/>
          <a:p>
            <a:pPr marL="12698" algn="ctr">
              <a:spcBef>
                <a:spcPts val="95"/>
              </a:spcBef>
            </a:pPr>
            <a:r>
              <a:rPr lang="en-IN" sz="3200" u="none" spc="-10" dirty="0">
                <a:latin typeface="Segoe UI Semibold" panose="020B0702040204020203" pitchFamily="34" charset="0"/>
                <a:cs typeface="Segoe UI Semibold" panose="020B0702040204020203" pitchFamily="34" charset="0"/>
              </a:rPr>
              <a:t>Key Insights :</a:t>
            </a:r>
            <a:endParaRPr sz="3200" b="1" u="none" spc="-10" dirty="0">
              <a:latin typeface="Segoe UI Semibold" panose="020B0702040204020203" pitchFamily="34" charset="0"/>
              <a:cs typeface="Segoe UI Semibold" panose="020B0702040204020203" pitchFamily="34" charset="0"/>
            </a:endParaRPr>
          </a:p>
        </p:txBody>
      </p:sp>
      <p:sp>
        <p:nvSpPr>
          <p:cNvPr id="5" name="TextBox 4">
            <a:extLst>
              <a:ext uri="{FF2B5EF4-FFF2-40B4-BE49-F238E27FC236}">
                <a16:creationId xmlns:a16="http://schemas.microsoft.com/office/drawing/2014/main" id="{A4022069-8FCA-29D4-E345-D24E2C56734B}"/>
              </a:ext>
            </a:extLst>
          </p:cNvPr>
          <p:cNvSpPr txBox="1"/>
          <p:nvPr/>
        </p:nvSpPr>
        <p:spPr>
          <a:xfrm>
            <a:off x="684212" y="1295400"/>
            <a:ext cx="10591800" cy="452431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w Cen MT" panose="020B0602020104020603" pitchFamily="34" charset="0"/>
              </a:rPr>
              <a:t>China is the largest contributor, accounting for more than half of global EV value.</a:t>
            </a:r>
          </a:p>
          <a:p>
            <a:pPr marL="342900" indent="-342900">
              <a:buFont typeface="Arial" panose="020B0604020202020204" pitchFamily="34" charset="0"/>
              <a:buChar char="•"/>
            </a:pPr>
            <a:r>
              <a:rPr lang="en-US" sz="2400" dirty="0">
                <a:latin typeface="Tw Cen MT" panose="020B0602020104020603" pitchFamily="34" charset="0"/>
              </a:rPr>
              <a:t>Developing regions show faster growth after 2025, indicating future market potential.</a:t>
            </a:r>
          </a:p>
          <a:p>
            <a:pPr marL="342900" indent="-342900">
              <a:buFont typeface="Arial" panose="020B0604020202020204" pitchFamily="34" charset="0"/>
              <a:buChar char="•"/>
            </a:pPr>
            <a:r>
              <a:rPr lang="en-US" sz="2400" dirty="0">
                <a:latin typeface="Tw Cen MT" panose="020B0602020104020603" pitchFamily="34" charset="0"/>
              </a:rPr>
              <a:t>BEVs are the fastest-growing powertrain, showing a clear shift toward fully electric vehicles</a:t>
            </a:r>
          </a:p>
          <a:p>
            <a:pPr marL="342900" indent="-342900">
              <a:buFont typeface="Arial" panose="020B0604020202020204" pitchFamily="34" charset="0"/>
              <a:buChar char="•"/>
            </a:pPr>
            <a:r>
              <a:rPr lang="en-US" sz="2400" dirty="0">
                <a:latin typeface="Tw Cen MT" panose="020B0602020104020603" pitchFamily="34" charset="0"/>
              </a:rPr>
              <a:t>EV stock and EV sales are the most frequently tracked performance parameters.</a:t>
            </a:r>
          </a:p>
          <a:p>
            <a:pPr marL="342900" indent="-342900">
              <a:buFont typeface="Arial" panose="020B0604020202020204" pitchFamily="34" charset="0"/>
              <a:buChar char="•"/>
            </a:pPr>
            <a:r>
              <a:rPr lang="en-US" sz="2400" dirty="0">
                <a:latin typeface="Tw Cen MT" panose="020B0602020104020603" pitchFamily="34" charset="0"/>
              </a:rPr>
              <a:t>China leads across EV sales, stock, and charging infrastructure, showing ecosystem maturity. </a:t>
            </a:r>
          </a:p>
          <a:p>
            <a:pPr marL="342900" indent="-342900">
              <a:buFont typeface="Arial" panose="020B0604020202020204" pitchFamily="34" charset="0"/>
              <a:buChar char="•"/>
            </a:pPr>
            <a:r>
              <a:rPr lang="en-US" sz="2400" dirty="0">
                <a:latin typeface="Tw Cen MT" panose="020B0602020104020603" pitchFamily="34" charset="0"/>
              </a:rPr>
              <a:t>EV adoption accelerates sharply after 2030, highlighting strong future growth expectations.</a:t>
            </a:r>
          </a:p>
          <a:p>
            <a:pPr marL="342900" indent="-342900">
              <a:buFont typeface="Arial" panose="020B0604020202020204" pitchFamily="34" charset="0"/>
              <a:buChar char="•"/>
            </a:pPr>
            <a:r>
              <a:rPr lang="en-US" sz="2400" dirty="0">
                <a:latin typeface="Tw Cen MT" panose="020B0602020104020603" pitchFamily="34" charset="0"/>
              </a:rPr>
              <a:t>China, Europe, and the USA show the highest EV peaks, with India emerging as a growth market.</a:t>
            </a:r>
            <a:endParaRPr lang="en-IN" sz="2400" dirty="0">
              <a:latin typeface="Tw Cen MT" panose="020B0602020104020603" pitchFamily="34" charset="0"/>
            </a:endParaRPr>
          </a:p>
        </p:txBody>
      </p:sp>
    </p:spTree>
    <p:extLst>
      <p:ext uri="{BB962C8B-B14F-4D97-AF65-F5344CB8AC3E}">
        <p14:creationId xmlns:p14="http://schemas.microsoft.com/office/powerpoint/2010/main" val="3347244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686C6-2DBC-F63B-72F8-42FA0BD3AAA5}"/>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385875D4-1EC7-7848-8A56-E571DF33E5A5}"/>
              </a:ext>
            </a:extLst>
          </p:cNvPr>
          <p:cNvSpPr txBox="1">
            <a:spLocks noGrp="1"/>
          </p:cNvSpPr>
          <p:nvPr>
            <p:ph type="title"/>
          </p:nvPr>
        </p:nvSpPr>
        <p:spPr>
          <a:xfrm>
            <a:off x="150812" y="609600"/>
            <a:ext cx="4038600" cy="504625"/>
          </a:xfrm>
          <a:prstGeom prst="rect">
            <a:avLst/>
          </a:prstGeom>
        </p:spPr>
        <p:txBody>
          <a:bodyPr vert="horz" wrap="square" lIns="0" tIns="12065" rIns="0" bIns="0" rtlCol="0">
            <a:spAutoFit/>
          </a:bodyPr>
          <a:lstStyle/>
          <a:p>
            <a:pPr marL="12698" algn="ctr">
              <a:spcBef>
                <a:spcPts val="95"/>
              </a:spcBef>
            </a:pPr>
            <a:r>
              <a:rPr lang="en-IN" sz="3200" u="none" spc="-10" dirty="0">
                <a:latin typeface="Segoe UI Semibold" panose="020B0702040204020203" pitchFamily="34" charset="0"/>
                <a:cs typeface="Segoe UI Semibold" panose="020B0702040204020203" pitchFamily="34" charset="0"/>
              </a:rPr>
              <a:t>Conclusion :</a:t>
            </a:r>
            <a:endParaRPr sz="3200" b="1" u="none" spc="-10" dirty="0">
              <a:latin typeface="Segoe UI Semibold" panose="020B0702040204020203" pitchFamily="34" charset="0"/>
              <a:cs typeface="Segoe UI Semibold" panose="020B0702040204020203" pitchFamily="34" charset="0"/>
            </a:endParaRPr>
          </a:p>
        </p:txBody>
      </p:sp>
      <p:sp>
        <p:nvSpPr>
          <p:cNvPr id="5" name="TextBox 4">
            <a:extLst>
              <a:ext uri="{FF2B5EF4-FFF2-40B4-BE49-F238E27FC236}">
                <a16:creationId xmlns:a16="http://schemas.microsoft.com/office/drawing/2014/main" id="{6B36D482-F4AF-4D9A-5F6F-55C423C7B497}"/>
              </a:ext>
            </a:extLst>
          </p:cNvPr>
          <p:cNvSpPr txBox="1"/>
          <p:nvPr/>
        </p:nvSpPr>
        <p:spPr>
          <a:xfrm>
            <a:off x="684212" y="1295400"/>
            <a:ext cx="8382000" cy="3046988"/>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w Cen MT" panose="020B0602020104020603" pitchFamily="34" charset="0"/>
              </a:rPr>
              <a:t>Electric vehicles are playing an important role in the shift towards cleaner transportation. </a:t>
            </a:r>
          </a:p>
          <a:p>
            <a:pPr marL="342900" indent="-342900">
              <a:buFont typeface="Arial" panose="020B0604020202020204" pitchFamily="34" charset="0"/>
              <a:buChar char="•"/>
            </a:pPr>
            <a:r>
              <a:rPr lang="en-US" sz="2400" dirty="0">
                <a:latin typeface="Tw Cen MT" panose="020B0602020104020603" pitchFamily="34" charset="0"/>
              </a:rPr>
              <a:t>The analysis shows that EV adoption is increasing across different regions due to rising awareness, supportive government policies, and improving infrastructure. </a:t>
            </a:r>
          </a:p>
          <a:p>
            <a:pPr marL="342900" indent="-342900">
              <a:buFont typeface="Arial" panose="020B0604020202020204" pitchFamily="34" charset="0"/>
              <a:buChar char="•"/>
            </a:pPr>
            <a:r>
              <a:rPr lang="en-US" sz="2400" dirty="0">
                <a:latin typeface="Tw Cen MT" panose="020B0602020104020603" pitchFamily="34" charset="0"/>
              </a:rPr>
              <a:t>Overall, the growing trend of electric vehicles highlights a positive move toward a more sustainable and eco-friendly future.</a:t>
            </a:r>
            <a:endParaRPr lang="en-IN" sz="2400" dirty="0">
              <a:latin typeface="Tw Cen MT" panose="020B0602020104020603" pitchFamily="34" charset="0"/>
            </a:endParaRPr>
          </a:p>
        </p:txBody>
      </p:sp>
    </p:spTree>
    <p:extLst>
      <p:ext uri="{BB962C8B-B14F-4D97-AF65-F5344CB8AC3E}">
        <p14:creationId xmlns:p14="http://schemas.microsoft.com/office/powerpoint/2010/main" val="2920632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92517" y="609600"/>
            <a:ext cx="3930295" cy="504625"/>
          </a:xfrm>
          <a:prstGeom prst="rect">
            <a:avLst/>
          </a:prstGeom>
        </p:spPr>
        <p:txBody>
          <a:bodyPr vert="horz" wrap="square" lIns="0" tIns="12065" rIns="0" bIns="0" rtlCol="0">
            <a:spAutoFit/>
          </a:bodyPr>
          <a:lstStyle/>
          <a:p>
            <a:pPr marL="12698" algn="ctr">
              <a:spcBef>
                <a:spcPts val="95"/>
              </a:spcBef>
            </a:pPr>
            <a:r>
              <a:rPr lang="en-IN" sz="3200" u="none" spc="-10" dirty="0">
                <a:latin typeface="Segoe UI Semibold" panose="020B0702040204020203" pitchFamily="34" charset="0"/>
                <a:cs typeface="Segoe UI Semibold" panose="020B0702040204020203" pitchFamily="34" charset="0"/>
              </a:rPr>
              <a:t>Recommendations :</a:t>
            </a:r>
            <a:endParaRPr sz="3200" b="1" u="none" spc="-10" dirty="0">
              <a:latin typeface="Segoe UI Semibold" panose="020B0702040204020203" pitchFamily="34" charset="0"/>
              <a:cs typeface="Segoe UI Semibold" panose="020B0702040204020203" pitchFamily="34" charset="0"/>
            </a:endParaRPr>
          </a:p>
        </p:txBody>
      </p:sp>
      <p:sp>
        <p:nvSpPr>
          <p:cNvPr id="5" name="TextBox 4">
            <a:extLst>
              <a:ext uri="{FF2B5EF4-FFF2-40B4-BE49-F238E27FC236}">
                <a16:creationId xmlns:a16="http://schemas.microsoft.com/office/drawing/2014/main" id="{1D467EA8-5119-EC90-7621-AD47CB1476CD}"/>
              </a:ext>
            </a:extLst>
          </p:cNvPr>
          <p:cNvSpPr txBox="1"/>
          <p:nvPr/>
        </p:nvSpPr>
        <p:spPr>
          <a:xfrm>
            <a:off x="684212" y="1295400"/>
            <a:ext cx="8382000" cy="341632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Tw Cen MT" panose="020B0602020104020603" pitchFamily="34" charset="0"/>
              </a:rPr>
              <a:t>Increase the number of public charging stations to make EV usage more convenient.</a:t>
            </a:r>
          </a:p>
          <a:p>
            <a:pPr marL="342900" indent="-342900">
              <a:buFont typeface="Arial" panose="020B0604020202020204" pitchFamily="34" charset="0"/>
              <a:buChar char="•"/>
            </a:pPr>
            <a:r>
              <a:rPr lang="en-US" sz="2400" dirty="0">
                <a:latin typeface="Tw Cen MT" panose="020B0602020104020603" pitchFamily="34" charset="0"/>
              </a:rPr>
              <a:t>Encourage affordable EV options to make them accessible to a wider population.</a:t>
            </a:r>
          </a:p>
          <a:p>
            <a:pPr marL="342900" indent="-342900">
              <a:buFont typeface="Arial" panose="020B0604020202020204" pitchFamily="34" charset="0"/>
              <a:buChar char="•"/>
            </a:pPr>
            <a:r>
              <a:rPr lang="en-US" sz="2400" dirty="0">
                <a:latin typeface="Tw Cen MT" panose="020B0602020104020603" pitchFamily="34" charset="0"/>
              </a:rPr>
              <a:t>Strengthen government support through subsidies and incentives.</a:t>
            </a:r>
          </a:p>
          <a:p>
            <a:pPr marL="342900" indent="-342900">
              <a:buFont typeface="Arial" panose="020B0604020202020204" pitchFamily="34" charset="0"/>
              <a:buChar char="•"/>
            </a:pPr>
            <a:r>
              <a:rPr lang="en-US" sz="2400" dirty="0">
                <a:latin typeface="Tw Cen MT" panose="020B0602020104020603" pitchFamily="34" charset="0"/>
              </a:rPr>
              <a:t>Promote the use of renewable energy for charging electric vehicles.</a:t>
            </a:r>
          </a:p>
          <a:p>
            <a:pPr marL="342900" indent="-342900">
              <a:buFont typeface="Arial" panose="020B0604020202020204" pitchFamily="34" charset="0"/>
              <a:buChar char="•"/>
            </a:pPr>
            <a:r>
              <a:rPr lang="en-US" sz="2400" dirty="0">
                <a:latin typeface="Tw Cen MT" panose="020B0602020104020603" pitchFamily="34" charset="0"/>
              </a:rPr>
              <a:t>Improve the quality of the service as we have faced a lot of service issues from the companies in India</a:t>
            </a:r>
            <a:endParaRPr lang="en-IN" sz="2400" dirty="0">
              <a:latin typeface="Tw Cen MT" panose="020B0602020104020603"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341812" y="2011680"/>
            <a:ext cx="4465320" cy="2834640"/>
          </a:xfrm>
          <a:prstGeom prst="rect">
            <a:avLst/>
          </a:prstGeom>
        </p:spPr>
      </p:pic>
      <p:sp>
        <p:nvSpPr>
          <p:cNvPr id="3" name="object 3" descr="$PPTXTitle"/>
          <p:cNvSpPr txBox="1">
            <a:spLocks noGrp="1"/>
          </p:cNvSpPr>
          <p:nvPr>
            <p:ph type="title"/>
          </p:nvPr>
        </p:nvSpPr>
        <p:spPr>
          <a:xfrm>
            <a:off x="1323602" y="2998477"/>
            <a:ext cx="2357755" cy="1365460"/>
          </a:xfrm>
          <a:prstGeom prst="rect">
            <a:avLst/>
          </a:prstGeom>
        </p:spPr>
        <p:txBody>
          <a:bodyPr vert="horz" wrap="square" lIns="0" tIns="11430" rIns="0" bIns="0" rtlCol="0">
            <a:spAutoFit/>
          </a:bodyPr>
          <a:lstStyle/>
          <a:p>
            <a:pPr marL="12698" marR="5080" algn="ctr">
              <a:spcBef>
                <a:spcPts val="90"/>
              </a:spcBef>
            </a:pPr>
            <a:r>
              <a:rPr sz="3200" b="1" u="none" spc="320" dirty="0">
                <a:solidFill>
                  <a:srgbClr val="C00000"/>
                </a:solidFill>
                <a:latin typeface="Calibri (Body)"/>
                <a:cs typeface="Palatino Linotype"/>
              </a:rPr>
              <a:t>THANK </a:t>
            </a:r>
            <a:r>
              <a:rPr sz="3200" b="1" u="none" spc="395" dirty="0">
                <a:solidFill>
                  <a:srgbClr val="C00000"/>
                </a:solidFill>
                <a:latin typeface="Calibri (Body)"/>
                <a:cs typeface="Palatino Linotype"/>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2044</TotalTime>
  <Words>582</Words>
  <Application>Microsoft Office PowerPoint</Application>
  <PresentationFormat>Custom</PresentationFormat>
  <Paragraphs>48</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Calibri</vt:lpstr>
      <vt:lpstr>Calibri (Body)</vt:lpstr>
      <vt:lpstr>Segoe UI Semibold</vt:lpstr>
      <vt:lpstr>Tahoma</vt:lpstr>
      <vt:lpstr>Times New Roman</vt:lpstr>
      <vt:lpstr>Tw Cen MT</vt:lpstr>
      <vt:lpstr>Wingdings</vt:lpstr>
      <vt:lpstr>Office Theme</vt:lpstr>
      <vt:lpstr>PROJECT ON Global EV Sales Analysis</vt:lpstr>
      <vt:lpstr>Agenda</vt:lpstr>
      <vt:lpstr>Introduction:-</vt:lpstr>
      <vt:lpstr>Business Problem:-</vt:lpstr>
      <vt:lpstr>Types of Electric Vehicles</vt:lpstr>
      <vt:lpstr>PowerPoint Presentation</vt:lpstr>
      <vt:lpstr>PowerPoint Presentation</vt:lpstr>
      <vt:lpstr>PowerPoint Presentation</vt:lpstr>
      <vt:lpstr>PowerPoint Presentation</vt:lpstr>
      <vt:lpstr>Key Insights :</vt:lpstr>
      <vt:lpstr>Conclusion :</vt:lpstr>
      <vt:lpstr>Recommendations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sameer</dc:creator>
  <cp:lastModifiedBy>shaik sameer</cp:lastModifiedBy>
  <cp:revision>33</cp:revision>
  <dcterms:created xsi:type="dcterms:W3CDTF">2025-11-04T14:04:26Z</dcterms:created>
  <dcterms:modified xsi:type="dcterms:W3CDTF">2026-01-03T11:01:40Z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2025-11-04T00:00:00Z</vt:filetime>
  </property>
  <property fmtid="{D5CDD505-2E9C-101B-9397-08002B2CF9AE}" pid="3" name="LastSaved">
    <vt:filetime>2025-11-04T00:00:00Z</vt:filetime>
  </property>
  <property fmtid="{D5CDD505-2E9C-101B-9397-08002B2CF9AE}" pid="4" name="Producer">
    <vt:lpwstr>iLovePDF</vt:lpwstr>
  </property>
</Properties>
</file>